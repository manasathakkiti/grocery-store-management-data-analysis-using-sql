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8" r:id="rId5"/>
    <p:sldId id="269" r:id="rId6"/>
    <p:sldId id="268" r:id="rId7"/>
    <p:sldId id="263" r:id="rId8"/>
    <p:sldId id="270" r:id="rId9"/>
    <p:sldId id="285" r:id="rId10"/>
    <p:sldId id="267" r:id="rId11"/>
    <p:sldId id="265" r:id="rId12"/>
    <p:sldId id="279" r:id="rId13"/>
    <p:sldId id="264" r:id="rId14"/>
    <p:sldId id="282" r:id="rId15"/>
    <p:sldId id="280" r:id="rId16"/>
    <p:sldId id="278" r:id="rId17"/>
    <p:sldId id="274" r:id="rId18"/>
    <p:sldId id="275" r:id="rId19"/>
    <p:sldId id="276" r:id="rId20"/>
    <p:sldId id="261" r:id="rId21"/>
    <p:sldId id="260" r:id="rId22"/>
    <p:sldId id="286" r:id="rId23"/>
    <p:sldId id="288" r:id="rId24"/>
    <p:sldId id="289" r:id="rId25"/>
    <p:sldId id="284" r:id="rId26"/>
    <p:sldId id="283" r:id="rId27"/>
    <p:sldId id="259" r:id="rId28"/>
  </p:sldIdLst>
  <p:sldSz cx="12192000" cy="6858000"/>
  <p:notesSz cx="6858000" cy="9144000"/>
  <p:embeddedFontLst>
    <p:embeddedFont>
      <p:font typeface="Calibri" panose="020F0502020204030204"/>
      <p:regular r:id="rId32"/>
    </p:embeddedFont>
    <p:embeddedFont>
      <p:font typeface="Comic Sans MS" panose="030F0702030302020204" pitchFamily="66" charset="0"/>
      <p:regular r:id="rId33"/>
      <p:bold r:id="rId34"/>
      <p:italic r:id="rId35"/>
      <p:boldItalic r:id="rId36"/>
    </p:embeddedFont>
    <p:embeddedFont>
      <p:font typeface="Lato Black" panose="020F0502020204030203"/>
      <p:bold r:id="rId37"/>
    </p:embeddedFont>
    <p:embeddedFont>
      <p:font typeface="Libre Baskerville" panose="02000000000000000000"/>
      <p:regular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1301" y="31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8" Type="http://schemas.openxmlformats.org/officeDocument/2006/relationships/font" Target="fonts/font7.fntdata"/><Relationship Id="rId37" Type="http://schemas.openxmlformats.org/officeDocument/2006/relationships/font" Target="fonts/font6.fntdata"/><Relationship Id="rId36" Type="http://schemas.openxmlformats.org/officeDocument/2006/relationships/font" Target="fonts/font5.fntdata"/><Relationship Id="rId35" Type="http://schemas.openxmlformats.org/officeDocument/2006/relationships/font" Target="fonts/font4.fntdata"/><Relationship Id="rId34" Type="http://schemas.openxmlformats.org/officeDocument/2006/relationships/font" Target="fonts/font3.fntdata"/><Relationship Id="rId33" Type="http://schemas.openxmlformats.org/officeDocument/2006/relationships/font" Target="fonts/font2.fntdata"/><Relationship Id="rId32" Type="http://schemas.openxmlformats.org/officeDocument/2006/relationships/font" Target="fonts/font1.fntdata"/><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panose="020F0502020204030204"/>
              <a:buNone/>
            </a:p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3"/>
          </p:nvPr>
        </p:nvSpPr>
        <p:spPr/>
      </p:sp>
      <p:sp>
        <p:nvSpPr>
          <p:cNvPr id="3" name="Text Placeholder 2"/>
          <p:cNvSpPr>
            <a:spLocks noGrp="1"/>
          </p:cNvSpPr>
          <p:nvPr>
            <p:ph type="body" idx="1"/>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20" name="Google Shape;20;p7"/>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25" name="Google Shape;25;p9"/>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32" name="Google Shape;32;p10"/>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39" name="Google Shape;39;p8"/>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46" name="Google Shape;46;p11"/>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54" name="Google Shape;54;p12"/>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64" name="Google Shape;64;p13"/>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72" name="Google Shape;72;p14"/>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80" name="Google Shape;80;p15"/>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87" name="Google Shape;87;p16"/>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3.xml"/><Relationship Id="rId4" Type="http://schemas.openxmlformats.org/officeDocument/2006/relationships/image" Target="../media/image7.jpeg"/><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jpe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3.xml"/><Relationship Id="rId4" Type="http://schemas.openxmlformats.org/officeDocument/2006/relationships/image" Target="../media/image14.jpeg"/><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3.xml"/><Relationship Id="rId2" Type="http://schemas.openxmlformats.org/officeDocument/2006/relationships/image" Target="../media/image16.jpeg"/><Relationship Id="rId1" Type="http://schemas.openxmlformats.org/officeDocument/2006/relationships/image" Target="../media/image15.jpe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20.jpeg"/><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17.jpe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3.xml"/><Relationship Id="rId4" Type="http://schemas.openxmlformats.org/officeDocument/2006/relationships/image" Target="../media/image24.jpeg"/><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21.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6.jpeg"/><Relationship Id="rId1" Type="http://schemas.openxmlformats.org/officeDocument/2006/relationships/image" Target="../media/image25.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8.jpeg"/><Relationship Id="rId1" Type="http://schemas.openxmlformats.org/officeDocument/2006/relationships/image" Target="../media/image27.jpeg"/></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32.jpeg"/><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image" Target="../media/image29.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4.jpeg"/><Relationship Id="rId1" Type="http://schemas.openxmlformats.org/officeDocument/2006/relationships/image" Target="../media/image33.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6.jpeg"/><Relationship Id="rId1" Type="http://schemas.openxmlformats.org/officeDocument/2006/relationships/image" Target="../media/image35.jpeg"/></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40.jpeg"/><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image" Target="../media/image37.jpe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3.xml"/><Relationship Id="rId4" Type="http://schemas.openxmlformats.org/officeDocument/2006/relationships/image" Target="../media/image44.jpeg"/><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image" Target="../media/image41.jpe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3.xml"/><Relationship Id="rId4" Type="http://schemas.openxmlformats.org/officeDocument/2006/relationships/image" Target="../media/image48.jpeg"/><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image" Target="../media/image45.jpe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52.jpeg"/><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image" Target="../media/image49.jpe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54.jpeg"/><Relationship Id="rId1" Type="http://schemas.openxmlformats.org/officeDocument/2006/relationships/image" Target="../media/image53.jpe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56.jpeg"/><Relationship Id="rId1" Type="http://schemas.openxmlformats.org/officeDocument/2006/relationships/image" Target="../media/image55.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1"/>
          <a:srcRect/>
          <a:stretch>
            <a:fillRect/>
          </a:stretch>
        </p:blipFill>
        <p:spPr>
          <a:xfrm>
            <a:off x="635" y="0"/>
            <a:ext cx="12190730" cy="6782435"/>
          </a:xfrm>
          <a:prstGeom prst="rect">
            <a:avLst/>
          </a:prstGeom>
          <a:noFill/>
          <a:ln>
            <a:noFill/>
          </a:ln>
        </p:spPr>
      </p:pic>
      <p:sp>
        <p:nvSpPr>
          <p:cNvPr id="99" name="Google Shape;99;p1"/>
          <p:cNvSpPr txBox="1"/>
          <p:nvPr/>
        </p:nvSpPr>
        <p:spPr>
          <a:xfrm>
            <a:off x="1905745" y="3636903"/>
            <a:ext cx="8604068" cy="1382395"/>
          </a:xfrm>
          <a:prstGeom prst="rect">
            <a:avLst/>
          </a:prstGeom>
          <a:noFill/>
          <a:ln>
            <a:noFill/>
          </a:ln>
        </p:spPr>
        <p:txBody>
          <a:bodyPr spcFirstLastPara="1" wrap="square" lIns="91425" tIns="45700" rIns="91425" bIns="45700" anchor="t" anchorCtr="0">
            <a:spAutoFit/>
          </a:bodyPr>
          <a:lstStyle/>
          <a:p>
            <a:pPr algn="ctr"/>
            <a:r>
              <a:rPr lang="en-US" sz="3200" b="1" dirty="0">
                <a:solidFill>
                  <a:schemeClr val="tx1"/>
                </a:solidFill>
                <a:latin typeface="Times New Roman" panose="02020603050405020304" pitchFamily="18" charset="0"/>
                <a:cs typeface="Times New Roman" panose="02020603050405020304" pitchFamily="18" charset="0"/>
              </a:rPr>
              <a:t>GROCERY STORE MANAGEMENT</a:t>
            </a:r>
            <a:r>
              <a:rPr lang="en-IN" sz="3600" dirty="0">
                <a:solidFill>
                  <a:schemeClr val="tx1"/>
                </a:solidFill>
                <a:latin typeface="Times New Roman" panose="02020603050405020304" pitchFamily="18" charset="0"/>
                <a:cs typeface="Times New Roman" panose="02020603050405020304" pitchFamily="18" charset="0"/>
              </a:rPr>
              <a:t>🛒</a:t>
            </a:r>
            <a:r>
              <a:rPr lang="en-US" sz="3200" b="1" dirty="0">
                <a:latin typeface="Times New Roman" panose="02020603050405020304" pitchFamily="18" charset="0"/>
                <a:cs typeface="Times New Roman" panose="02020603050405020304" pitchFamily="18" charset="0"/>
              </a:rPr>
              <a:t> </a:t>
            </a:r>
            <a:endParaRPr lang="en-US" sz="3200" b="1" dirty="0">
              <a:latin typeface="Comic Sans MS" panose="030F0702030302020204" pitchFamily="66" charset="0"/>
              <a:cs typeface="Times New Roman" panose="02020603050405020304" pitchFamily="18" charset="0"/>
            </a:endParaRPr>
          </a:p>
          <a:p>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
        <p:nvSpPr>
          <p:cNvPr id="2" name="TextBox 1"/>
          <p:cNvSpPr txBox="1"/>
          <p:nvPr/>
        </p:nvSpPr>
        <p:spPr>
          <a:xfrm>
            <a:off x="219710" y="5494020"/>
            <a:ext cx="3542030" cy="1113790"/>
          </a:xfrm>
          <a:prstGeom prst="rect">
            <a:avLst/>
          </a:prstGeom>
          <a:noFill/>
        </p:spPr>
        <p:txBody>
          <a:bodyPr wrap="square" rtlCol="0">
            <a:noAutofit/>
          </a:bodyPr>
          <a:lstStyle/>
          <a:p>
            <a:r>
              <a:rPr lang="en-GB" sz="1800" b="1" dirty="0">
                <a:latin typeface="Times New Roman" panose="02020603050405020304" pitchFamily="18" charset="0"/>
                <a:cs typeface="Times New Roman" panose="02020603050405020304" pitchFamily="18" charset="0"/>
              </a:rPr>
              <a:t>By -</a:t>
            </a:r>
            <a:endParaRPr lang="en-IN" sz="1800" b="1"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Manasa Thakkiti</a:t>
            </a:r>
            <a:endParaRPr lang="en-IN" sz="1800" b="1" dirty="0">
              <a:latin typeface="Times New Roman" panose="02020603050405020304" pitchFamily="18" charset="0"/>
              <a:cs typeface="Times New Roman" panose="02020603050405020304" pitchFamily="18" charset="0"/>
            </a:endParaRPr>
          </a:p>
          <a:p>
            <a:br>
              <a:rPr lang="en-IN" sz="1800" dirty="0">
                <a:latin typeface="Comic Sans MS" panose="030F0702030302020204" pitchFamily="66" charset="0"/>
              </a:rPr>
            </a:br>
            <a:br>
              <a:rPr lang="en-IN" sz="1800" dirty="0">
                <a:latin typeface="Comic Sans MS" panose="030F0702030302020204" pitchFamily="66" charset="0"/>
              </a:rPr>
            </a:br>
            <a:endParaRPr lang="en-IN" sz="1800" dirty="0">
              <a:latin typeface="Comic Sans MS" panose="030F0702030302020204" pitchFamily="66"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3" name="Rectangle 2"/>
          <p:cNvSpPr/>
          <p:nvPr/>
        </p:nvSpPr>
        <p:spPr>
          <a:xfrm>
            <a:off x="428006" y="416296"/>
            <a:ext cx="4993675" cy="535531"/>
          </a:xfrm>
          <a:prstGeom prst="rect">
            <a:avLst/>
          </a:prstGeom>
        </p:spPr>
        <p:txBody>
          <a:bodyPr wrap="none">
            <a:spAutoFit/>
          </a:bodyPr>
          <a:lstStyle/>
          <a:p>
            <a:pPr lvl="0">
              <a:lnSpc>
                <a:spcPct val="80000"/>
              </a:lnSpc>
              <a:buClr>
                <a:srgbClr val="FF0000"/>
              </a:buClr>
              <a:buSzPts val="3200"/>
            </a:pPr>
            <a:r>
              <a:rPr lang="en-IN" sz="3600" b="1" dirty="0">
                <a:solidFill>
                  <a:srgbClr val="FF0000"/>
                </a:solidFill>
                <a:latin typeface="Times New Roman" panose="02020603050405020304" pitchFamily="18" charset="0"/>
                <a:ea typeface="Lato Black" panose="020F0502020204030203"/>
                <a:cs typeface="Times New Roman" panose="02020603050405020304" pitchFamily="18" charset="0"/>
                <a:sym typeface="Lato Black" panose="020F0502020204030203"/>
              </a:rPr>
              <a:t>Objective Of the Project</a:t>
            </a:r>
            <a:endParaRPr lang="en-IN" sz="3600" b="1" dirty="0">
              <a:solidFill>
                <a:srgbClr val="FF0000"/>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4" name="Rectangle 3"/>
          <p:cNvSpPr/>
          <p:nvPr/>
        </p:nvSpPr>
        <p:spPr>
          <a:xfrm>
            <a:off x="428006" y="1099595"/>
            <a:ext cx="10389346" cy="5115311"/>
          </a:xfrm>
          <a:prstGeom prst="rect">
            <a:avLst/>
          </a:prstGeom>
        </p:spPr>
        <p:txBody>
          <a:bodyPr wrap="square">
            <a:spAutoFit/>
          </a:bodyPr>
          <a:lstStyle/>
          <a:p>
            <a:pPr>
              <a:lnSpc>
                <a:spcPct val="150000"/>
              </a:lnSpc>
            </a:pPr>
            <a:r>
              <a:rPr lang="en-GB" sz="2000" dirty="0">
                <a:latin typeface="Times New Roman" panose="02020603050405020304" pitchFamily="18" charset="0"/>
                <a:cs typeface="Times New Roman" panose="02020603050405020304" pitchFamily="18" charset="0"/>
              </a:rPr>
              <a:t>The objective of this project is to </a:t>
            </a:r>
            <a:r>
              <a:rPr lang="en-GB" sz="2000" dirty="0" err="1">
                <a:latin typeface="Times New Roman" panose="02020603050405020304" pitchFamily="18" charset="0"/>
                <a:cs typeface="Times New Roman" panose="02020603050405020304" pitchFamily="18" charset="0"/>
              </a:rPr>
              <a:t>analyze</a:t>
            </a:r>
            <a:r>
              <a:rPr lang="en-GB" sz="2000" dirty="0">
                <a:latin typeface="Times New Roman" panose="02020603050405020304" pitchFamily="18" charset="0"/>
                <a:cs typeface="Times New Roman" panose="02020603050405020304" pitchFamily="18" charset="0"/>
              </a:rPr>
              <a:t>, organize, and manage grocery store data efficiently, focusing on products, inventory levels, suppliers, sales, and customer transactions. By examining these elements, the project aims to identify patterns in product demand, sales performance, stock movement, and supplier reliability. This analysis helps users understand the real-world relationship between inventory management, customer buying </a:t>
            </a:r>
            <a:r>
              <a:rPr lang="en-GB" sz="2000" dirty="0" err="1">
                <a:latin typeface="Times New Roman" panose="02020603050405020304" pitchFamily="18" charset="0"/>
                <a:cs typeface="Times New Roman" panose="02020603050405020304" pitchFamily="18" charset="0"/>
              </a:rPr>
              <a:t>behavior</a:t>
            </a:r>
            <a:r>
              <a:rPr lang="en-GB" sz="2000" dirty="0">
                <a:latin typeface="Times New Roman" panose="02020603050405020304" pitchFamily="18" charset="0"/>
                <a:cs typeface="Times New Roman" panose="02020603050405020304" pitchFamily="18" charset="0"/>
              </a:rPr>
              <a:t>, and overall store </a:t>
            </a:r>
            <a:r>
              <a:rPr lang="en-GB" sz="2000" dirty="0" err="1">
                <a:latin typeface="Times New Roman" panose="02020603050405020304" pitchFamily="18" charset="0"/>
                <a:cs typeface="Times New Roman" panose="02020603050405020304" pitchFamily="18" charset="0"/>
              </a:rPr>
              <a:t>performance.Through</a:t>
            </a:r>
            <a:r>
              <a:rPr lang="en-GB" sz="2000" dirty="0">
                <a:latin typeface="Times New Roman" panose="02020603050405020304" pitchFamily="18" charset="0"/>
                <a:cs typeface="Times New Roman" panose="02020603050405020304" pitchFamily="18" charset="0"/>
              </a:rPr>
              <a:t> this system, we can observe trends such as which products sell the most, how frequently items need restocking, and which categories contribute the highest revenue. By examining metrics like stock-to-sales ratio, reorder levels, and daily sales volume, the study highlights fast-moving products, slow-moving inventory, and potential gaps in supply. These insights help improve inventory control, reduce wastage, enhance customer satisfaction, and support better decision-making for store management.</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6796" y="93407"/>
            <a:ext cx="6089904"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ER Diagram</a:t>
            </a:r>
            <a:endParaRPr lang="en-US" sz="32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stretch>
            <a:fillRect/>
          </a:stretch>
        </p:blipFill>
        <p:spPr>
          <a:xfrm>
            <a:off x="865505" y="822960"/>
            <a:ext cx="9729470" cy="537718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03504" y="265176"/>
            <a:ext cx="5632704"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About Schema</a:t>
            </a:r>
            <a:endParaRPr lang="en-US" sz="3200" b="1" dirty="0">
              <a:latin typeface="Times New Roman" panose="02020603050405020304" pitchFamily="18" charset="0"/>
              <a:cs typeface="Times New Roman" panose="02020603050405020304" pitchFamily="18" charset="0"/>
            </a:endParaRPr>
          </a:p>
        </p:txBody>
      </p:sp>
      <p:sp>
        <p:nvSpPr>
          <p:cNvPr id="6" name="Rectangle 5"/>
          <p:cNvSpPr/>
          <p:nvPr/>
        </p:nvSpPr>
        <p:spPr>
          <a:xfrm>
            <a:off x="603504" y="1194947"/>
            <a:ext cx="10704962" cy="5323205"/>
          </a:xfrm>
          <a:prstGeom prst="rect">
            <a:avLst/>
          </a:prstGeom>
        </p:spPr>
        <p:txBody>
          <a:bodyPr wrap="square">
            <a:spAutoFit/>
          </a:bodyPr>
          <a:lstStyle/>
          <a:p>
            <a:pPr marL="342900" indent="-342900" algn="just">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The </a:t>
            </a:r>
            <a:r>
              <a:rPr lang="en-GB" sz="2000" dirty="0" err="1">
                <a:latin typeface="Times New Roman" panose="02020603050405020304" pitchFamily="18" charset="0"/>
                <a:cs typeface="Times New Roman" panose="02020603050405020304" pitchFamily="18" charset="0"/>
              </a:rPr>
              <a:t>Grocery</a:t>
            </a:r>
            <a:r>
              <a:rPr lang="en-GB" sz="2000" dirty="0">
                <a:latin typeface="Times New Roman" panose="02020603050405020304" pitchFamily="18" charset="0"/>
                <a:cs typeface="Times New Roman" panose="02020603050405020304" pitchFamily="18" charset="0"/>
              </a:rPr>
              <a:t> database is designed to store and manage all information related to grocery items, sales, suppliers, and customers.</a:t>
            </a:r>
            <a:endParaRPr lang="en-GB" sz="2000" dirty="0">
              <a:latin typeface="Times New Roman" panose="02020603050405020304" pitchFamily="18" charset="0"/>
              <a:cs typeface="Times New Roman" panose="02020603050405020304" pitchFamily="18" charset="0"/>
            </a:endParaRPr>
          </a:p>
          <a:p>
            <a:pPr algn="just"/>
            <a:endParaRPr lang="en-GB"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 It contains six main </a:t>
            </a:r>
            <a:r>
              <a:rPr lang="en-GB" sz="2000" dirty="0" err="1">
                <a:latin typeface="Times New Roman" panose="02020603050405020304" pitchFamily="18" charset="0"/>
                <a:cs typeface="Times New Roman" panose="02020603050405020304" pitchFamily="18" charset="0"/>
              </a:rPr>
              <a:t>tables:products</a:t>
            </a:r>
            <a:r>
              <a:rPr lang="en-GB" sz="2000" dirty="0">
                <a:latin typeface="Times New Roman" panose="02020603050405020304" pitchFamily="18" charset="0"/>
                <a:cs typeface="Times New Roman" panose="02020603050405020304" pitchFamily="18" charset="0"/>
              </a:rPr>
              <a:t> holds details of each grocery item such as name, category, price, and stock </a:t>
            </a:r>
            <a:r>
              <a:rPr lang="en-GB" sz="2000" dirty="0" err="1">
                <a:latin typeface="Times New Roman" panose="02020603050405020304" pitchFamily="18" charset="0"/>
                <a:cs typeface="Times New Roman" panose="02020603050405020304" pitchFamily="18" charset="0"/>
              </a:rPr>
              <a:t>level.suppliers</a:t>
            </a:r>
            <a:r>
              <a:rPr lang="en-GB" sz="2000" dirty="0">
                <a:latin typeface="Times New Roman" panose="02020603050405020304" pitchFamily="18" charset="0"/>
                <a:cs typeface="Times New Roman" panose="02020603050405020304" pitchFamily="18" charset="0"/>
              </a:rPr>
              <a:t> stores supplier information, including supplier ID, name, and contact </a:t>
            </a:r>
            <a:r>
              <a:rPr lang="en-GB" sz="2000" dirty="0" err="1">
                <a:latin typeface="Times New Roman" panose="02020603050405020304" pitchFamily="18" charset="0"/>
                <a:cs typeface="Times New Roman" panose="02020603050405020304" pitchFamily="18" charset="0"/>
              </a:rPr>
              <a:t>details.customers</a:t>
            </a:r>
            <a:r>
              <a:rPr lang="en-GB" sz="2000" dirty="0">
                <a:latin typeface="Times New Roman" panose="02020603050405020304" pitchFamily="18" charset="0"/>
                <a:cs typeface="Times New Roman" panose="02020603050405020304" pitchFamily="18" charset="0"/>
              </a:rPr>
              <a:t> keeps customer details for billing and loyalty tracking.</a:t>
            </a:r>
            <a:endParaRPr lang="en-GB"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GB"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sales records every sale transaction with product, customer, quantity, date, and total amount.</a:t>
            </a:r>
            <a:endParaRPr lang="en-GB" sz="2000" dirty="0">
              <a:latin typeface="Times New Roman" panose="02020603050405020304" pitchFamily="18" charset="0"/>
              <a:cs typeface="Times New Roman" panose="02020603050405020304" pitchFamily="18" charset="0"/>
            </a:endParaRPr>
          </a:p>
          <a:p>
            <a:pPr algn="just"/>
            <a:r>
              <a:rPr lang="en-IN" altLang="en-GB" sz="2000" dirty="0" err="1">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purchase_orders</a:t>
            </a:r>
            <a:r>
              <a:rPr lang="en-GB" sz="2000" dirty="0">
                <a:latin typeface="Times New Roman" panose="02020603050405020304" pitchFamily="18" charset="0"/>
                <a:cs typeface="Times New Roman" panose="02020603050405020304" pitchFamily="18" charset="0"/>
              </a:rPr>
              <a:t> tracks items ordered from suppliers to restock inventory.</a:t>
            </a:r>
            <a:endParaRPr lang="en-GB" sz="2000" dirty="0">
              <a:latin typeface="Times New Roman" panose="02020603050405020304" pitchFamily="18" charset="0"/>
              <a:cs typeface="Times New Roman" panose="02020603050405020304" pitchFamily="18" charset="0"/>
            </a:endParaRPr>
          </a:p>
          <a:p>
            <a:pPr algn="just"/>
            <a:endParaRPr lang="en-GB"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categories stores all product categories like fruits, vegetables, dairy, and grains.</a:t>
            </a:r>
            <a:endParaRPr lang="en-GB"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GB"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All transactional tables like sales and </a:t>
            </a:r>
            <a:r>
              <a:rPr lang="en-GB" sz="2000" dirty="0" err="1">
                <a:latin typeface="Times New Roman" panose="02020603050405020304" pitchFamily="18" charset="0"/>
                <a:cs typeface="Times New Roman" panose="02020603050405020304" pitchFamily="18" charset="0"/>
              </a:rPr>
              <a:t>purchase_orders</a:t>
            </a:r>
            <a:r>
              <a:rPr lang="en-GB" sz="2000" dirty="0">
                <a:latin typeface="Times New Roman" panose="02020603050405020304" pitchFamily="18" charset="0"/>
                <a:cs typeface="Times New Roman" panose="02020603050405020304" pitchFamily="18" charset="0"/>
              </a:rPr>
              <a:t> reference products, customers, or suppliers to maintain consistency.</a:t>
            </a:r>
            <a:endParaRPr lang="en-GB"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GB"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This relational structure helps in managing inventory, tracking sales, improving restocking decisions, and maintaining accurate supplier and customer information.</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2" name="TextBox 1"/>
          <p:cNvSpPr txBox="1"/>
          <p:nvPr/>
        </p:nvSpPr>
        <p:spPr>
          <a:xfrm>
            <a:off x="5248656" y="256032"/>
            <a:ext cx="2971800"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Tables</a:t>
            </a:r>
            <a:endParaRPr lang="en-US" sz="32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722376" y="1115568"/>
            <a:ext cx="3438144" cy="46037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Order details</a:t>
            </a:r>
            <a:r>
              <a:rPr lang="en-IN" altLang="en-US" sz="2400" b="1" dirty="0">
                <a:latin typeface="Times New Roman" panose="02020603050405020304" pitchFamily="18" charset="0"/>
                <a:cs typeface="Times New Roman" panose="02020603050405020304" pitchFamily="18" charset="0"/>
              </a:rPr>
              <a:t> table</a:t>
            </a:r>
            <a:endParaRPr lang="en-IN" altLang="en-US" sz="2400"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722329" y="3763944"/>
            <a:ext cx="3191256" cy="46037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Categories</a:t>
            </a:r>
            <a:r>
              <a:rPr lang="en-IN" altLang="en-US" sz="2400" b="1" dirty="0">
                <a:latin typeface="Times New Roman" panose="02020603050405020304" pitchFamily="18" charset="0"/>
                <a:cs typeface="Times New Roman" panose="02020603050405020304" pitchFamily="18" charset="0"/>
              </a:rPr>
              <a:t> table</a:t>
            </a:r>
            <a:endParaRPr lang="en-IN" altLang="en-US" sz="2400" b="1" dirty="0">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1"/>
          <a:stretch>
            <a:fillRect/>
          </a:stretch>
        </p:blipFill>
        <p:spPr>
          <a:xfrm>
            <a:off x="722630" y="1788795"/>
            <a:ext cx="3437890" cy="1562100"/>
          </a:xfrm>
          <a:prstGeom prst="rect">
            <a:avLst/>
          </a:prstGeom>
        </p:spPr>
      </p:pic>
      <p:pic>
        <p:nvPicPr>
          <p:cNvPr id="12" name="Picture 11"/>
          <p:cNvPicPr>
            <a:picLocks noChangeAspect="1"/>
          </p:cNvPicPr>
          <p:nvPr/>
        </p:nvPicPr>
        <p:blipFill>
          <a:blip r:embed="rId2"/>
          <a:stretch>
            <a:fillRect/>
          </a:stretch>
        </p:blipFill>
        <p:spPr>
          <a:xfrm>
            <a:off x="4839970" y="1905000"/>
            <a:ext cx="4441825" cy="1395730"/>
          </a:xfrm>
          <a:prstGeom prst="rect">
            <a:avLst/>
          </a:prstGeom>
        </p:spPr>
      </p:pic>
      <p:sp>
        <p:nvSpPr>
          <p:cNvPr id="13" name="TextBox 12"/>
          <p:cNvSpPr txBox="1"/>
          <p:nvPr/>
        </p:nvSpPr>
        <p:spPr>
          <a:xfrm>
            <a:off x="5248656" y="1265458"/>
            <a:ext cx="2971800" cy="521970"/>
          </a:xfrm>
          <a:prstGeom prst="rect">
            <a:avLst/>
          </a:prstGeom>
          <a:noFill/>
        </p:spPr>
        <p:txBody>
          <a:bodyPr wrap="square" rtlCol="0">
            <a:spAutoFit/>
          </a:bodyPr>
          <a:lstStyle/>
          <a:p>
            <a:r>
              <a:rPr lang="en-GB" sz="2800" b="1" dirty="0">
                <a:latin typeface="Times New Roman" panose="02020603050405020304" pitchFamily="18" charset="0"/>
                <a:cs typeface="Times New Roman" panose="02020603050405020304" pitchFamily="18" charset="0"/>
              </a:rPr>
              <a:t>Customer</a:t>
            </a:r>
            <a:r>
              <a:rPr lang="en-GB" sz="2800" b="1" dirty="0"/>
              <a:t>s </a:t>
            </a:r>
            <a:r>
              <a:rPr lang="en-IN" altLang="en-GB" sz="2800" b="1" dirty="0"/>
              <a:t>table</a:t>
            </a:r>
            <a:endParaRPr lang="en-IN" altLang="en-GB" sz="2800" b="1" dirty="0"/>
          </a:p>
        </p:txBody>
      </p:sp>
      <p:pic>
        <p:nvPicPr>
          <p:cNvPr id="15" name="Picture 14"/>
          <p:cNvPicPr>
            <a:picLocks noChangeAspect="1"/>
          </p:cNvPicPr>
          <p:nvPr/>
        </p:nvPicPr>
        <p:blipFill>
          <a:blip r:embed="rId3"/>
          <a:stretch>
            <a:fillRect/>
          </a:stretch>
        </p:blipFill>
        <p:spPr>
          <a:xfrm>
            <a:off x="522605" y="4636770"/>
            <a:ext cx="3304540" cy="1355725"/>
          </a:xfrm>
          <a:prstGeom prst="rect">
            <a:avLst/>
          </a:prstGeom>
        </p:spPr>
      </p:pic>
      <p:pic>
        <p:nvPicPr>
          <p:cNvPr id="4" name="Picture 3"/>
          <p:cNvPicPr>
            <a:picLocks noChangeAspect="1"/>
          </p:cNvPicPr>
          <p:nvPr/>
        </p:nvPicPr>
        <p:blipFill>
          <a:blip r:embed="rId4"/>
          <a:stretch>
            <a:fillRect/>
          </a:stretch>
        </p:blipFill>
        <p:spPr>
          <a:xfrm>
            <a:off x="4534283" y="4364999"/>
            <a:ext cx="4747291" cy="1339286"/>
          </a:xfrm>
          <a:prstGeom prst="rect">
            <a:avLst/>
          </a:prstGeom>
        </p:spPr>
      </p:pic>
      <p:sp>
        <p:nvSpPr>
          <p:cNvPr id="5" name="Text Box 4"/>
          <p:cNvSpPr txBox="1"/>
          <p:nvPr/>
        </p:nvSpPr>
        <p:spPr>
          <a:xfrm>
            <a:off x="5177155" y="3763645"/>
            <a:ext cx="2752090" cy="460375"/>
          </a:xfrm>
          <a:prstGeom prst="rect">
            <a:avLst/>
          </a:prstGeom>
          <a:noFill/>
        </p:spPr>
        <p:txBody>
          <a:bodyPr wrap="square" rtlCol="0" anchor="t">
            <a:spAutoFit/>
          </a:bodyPr>
          <a:p>
            <a:r>
              <a:rPr lang="en-US" sz="2400" b="1" dirty="0">
                <a:latin typeface="Times New Roman" panose="02020603050405020304" pitchFamily="18" charset="0"/>
                <a:cs typeface="Times New Roman" panose="02020603050405020304" pitchFamily="18" charset="0"/>
                <a:sym typeface="+mn-ea"/>
              </a:rPr>
              <a:t>Orders</a:t>
            </a:r>
            <a:r>
              <a:rPr lang="en-IN" altLang="en-US" sz="2400" b="1" dirty="0">
                <a:latin typeface="Times New Roman" panose="02020603050405020304" pitchFamily="18" charset="0"/>
                <a:cs typeface="Times New Roman" panose="02020603050405020304" pitchFamily="18" charset="0"/>
                <a:sym typeface="+mn-ea"/>
              </a:rPr>
              <a:t>  table</a:t>
            </a:r>
            <a:endParaRPr lang="en-IN" altLang="en-US" sz="2400" b="1"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87552" y="475488"/>
            <a:ext cx="372160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Orders </a:t>
            </a:r>
            <a:endParaRPr lang="en-US" sz="2400"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6793992" y="475488"/>
            <a:ext cx="3803904"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Products Table</a:t>
            </a:r>
            <a:endParaRPr lang="en-US" sz="24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4014216" y="3099816"/>
            <a:ext cx="355701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Store employees  Table</a:t>
            </a:r>
            <a:endParaRPr lang="en-US" sz="24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stretch>
            <a:fillRect/>
          </a:stretch>
        </p:blipFill>
        <p:spPr>
          <a:xfrm>
            <a:off x="371223" y="1152534"/>
            <a:ext cx="4747291" cy="1339286"/>
          </a:xfrm>
          <a:prstGeom prst="rect">
            <a:avLst/>
          </a:prstGeom>
        </p:spPr>
      </p:pic>
      <p:pic>
        <p:nvPicPr>
          <p:cNvPr id="15" name="Picture 14"/>
          <p:cNvPicPr>
            <a:picLocks noChangeAspect="1"/>
          </p:cNvPicPr>
          <p:nvPr/>
        </p:nvPicPr>
        <p:blipFill>
          <a:blip r:embed="rId2"/>
          <a:stretch>
            <a:fillRect/>
          </a:stretch>
        </p:blipFill>
        <p:spPr>
          <a:xfrm>
            <a:off x="6096000" y="1085130"/>
            <a:ext cx="3895725" cy="1343025"/>
          </a:xfrm>
          <a:prstGeom prst="rect">
            <a:avLst/>
          </a:prstGeom>
        </p:spPr>
      </p:pic>
      <p:pic>
        <p:nvPicPr>
          <p:cNvPr id="17" name="Picture 16"/>
          <p:cNvPicPr>
            <a:picLocks noChangeAspect="1"/>
          </p:cNvPicPr>
          <p:nvPr/>
        </p:nvPicPr>
        <p:blipFill>
          <a:blip r:embed="rId3"/>
          <a:stretch>
            <a:fillRect/>
          </a:stretch>
        </p:blipFill>
        <p:spPr>
          <a:xfrm>
            <a:off x="3208672" y="3842836"/>
            <a:ext cx="5011245" cy="146409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2222332" y="2357437"/>
            <a:ext cx="7330415" cy="1669132"/>
          </a:xfrm>
          <a:prstGeom prst="rect">
            <a:avLst/>
          </a:prstGeom>
        </p:spPr>
      </p:pic>
      <p:sp>
        <p:nvSpPr>
          <p:cNvPr id="6" name="TextBox 5"/>
          <p:cNvSpPr txBox="1"/>
          <p:nvPr/>
        </p:nvSpPr>
        <p:spPr>
          <a:xfrm>
            <a:off x="4363453" y="1379621"/>
            <a:ext cx="1691489" cy="523220"/>
          </a:xfrm>
          <a:prstGeom prst="rect">
            <a:avLst/>
          </a:prstGeom>
          <a:noFill/>
        </p:spPr>
        <p:txBody>
          <a:bodyPr wrap="none" rtlCol="0">
            <a:spAutoFit/>
          </a:bodyPr>
          <a:lstStyle/>
          <a:p>
            <a:r>
              <a:rPr lang="en-GB" sz="2800" b="1" dirty="0">
                <a:latin typeface="Times New Roman" panose="02020603050405020304" pitchFamily="18" charset="0"/>
                <a:cs typeface="Times New Roman" panose="02020603050405020304" pitchFamily="18" charset="0"/>
              </a:rPr>
              <a:t>Suppliers</a:t>
            </a:r>
            <a:r>
              <a:rPr lang="en-GB" dirty="0"/>
              <a:t> </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2" name="TextBox 1"/>
          <p:cNvSpPr txBox="1"/>
          <p:nvPr/>
        </p:nvSpPr>
        <p:spPr>
          <a:xfrm>
            <a:off x="0" y="156561"/>
            <a:ext cx="11119104" cy="400110"/>
          </a:xfrm>
          <a:prstGeom prst="rect">
            <a:avLst/>
          </a:prstGeom>
          <a:noFill/>
        </p:spPr>
        <p:txBody>
          <a:bodyPr wrap="square" rtlCol="0">
            <a:spAutoFit/>
          </a:bodyPr>
          <a:lstStyle/>
          <a:p>
            <a:r>
              <a:rPr lang="en-GB" sz="2000" b="1" dirty="0">
                <a:latin typeface="Times New Roman" panose="02020603050405020304" pitchFamily="18" charset="0"/>
                <a:cs typeface="Times New Roman" panose="02020603050405020304" pitchFamily="18" charset="0"/>
              </a:rPr>
              <a:t>How many unique customers have placed orders</a:t>
            </a:r>
            <a:endParaRPr lang="en-US" sz="2000" b="1"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1"/>
          <a:stretch>
            <a:fillRect/>
          </a:stretch>
        </p:blipFill>
        <p:spPr>
          <a:xfrm>
            <a:off x="6445845" y="1277793"/>
            <a:ext cx="5359855" cy="1678767"/>
          </a:xfrm>
          <a:prstGeom prst="rect">
            <a:avLst/>
          </a:prstGeom>
        </p:spPr>
      </p:pic>
      <p:pic>
        <p:nvPicPr>
          <p:cNvPr id="7" name="Picture 6"/>
          <p:cNvPicPr>
            <a:picLocks noChangeAspect="1"/>
          </p:cNvPicPr>
          <p:nvPr/>
        </p:nvPicPr>
        <p:blipFill>
          <a:blip r:embed="rId2"/>
          <a:stretch>
            <a:fillRect/>
          </a:stretch>
        </p:blipFill>
        <p:spPr>
          <a:xfrm>
            <a:off x="6588959" y="4450080"/>
            <a:ext cx="4530145" cy="1253019"/>
          </a:xfrm>
          <a:prstGeom prst="rect">
            <a:avLst/>
          </a:prstGeom>
        </p:spPr>
      </p:pic>
      <p:sp>
        <p:nvSpPr>
          <p:cNvPr id="9" name="TextBox 8"/>
          <p:cNvSpPr txBox="1"/>
          <p:nvPr/>
        </p:nvSpPr>
        <p:spPr>
          <a:xfrm>
            <a:off x="0" y="3503265"/>
            <a:ext cx="9768840"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Which customers have placed the highest number of orders</a:t>
            </a:r>
            <a:r>
              <a:rPr lang="en-IN" dirty="0"/>
              <a:t>?</a:t>
            </a:r>
            <a:endParaRPr lang="en-IN" dirty="0"/>
          </a:p>
        </p:txBody>
      </p:sp>
      <p:pic>
        <p:nvPicPr>
          <p:cNvPr id="11" name="Picture 10"/>
          <p:cNvPicPr>
            <a:picLocks noChangeAspect="1"/>
          </p:cNvPicPr>
          <p:nvPr/>
        </p:nvPicPr>
        <p:blipFill>
          <a:blip r:embed="rId3"/>
          <a:stretch>
            <a:fillRect/>
          </a:stretch>
        </p:blipFill>
        <p:spPr>
          <a:xfrm>
            <a:off x="0" y="1188515"/>
            <a:ext cx="6588959" cy="1360932"/>
          </a:xfrm>
          <a:prstGeom prst="rect">
            <a:avLst/>
          </a:prstGeom>
        </p:spPr>
      </p:pic>
      <p:pic>
        <p:nvPicPr>
          <p:cNvPr id="13" name="Picture 12"/>
          <p:cNvPicPr>
            <a:picLocks noChangeAspect="1"/>
          </p:cNvPicPr>
          <p:nvPr/>
        </p:nvPicPr>
        <p:blipFill>
          <a:blip r:embed="rId4"/>
          <a:stretch>
            <a:fillRect/>
          </a:stretch>
        </p:blipFill>
        <p:spPr>
          <a:xfrm>
            <a:off x="653415" y="4181239"/>
            <a:ext cx="4057650" cy="17907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2" name="TextBox 1"/>
          <p:cNvSpPr txBox="1"/>
          <p:nvPr/>
        </p:nvSpPr>
        <p:spPr>
          <a:xfrm>
            <a:off x="310896" y="530032"/>
            <a:ext cx="11375136" cy="400110"/>
          </a:xfrm>
          <a:prstGeom prst="rect">
            <a:avLst/>
          </a:prstGeom>
          <a:noFill/>
        </p:spPr>
        <p:txBody>
          <a:bodyPr wrap="square" rtlCol="0">
            <a:spAutoFit/>
          </a:bodyPr>
          <a:lstStyle/>
          <a:p>
            <a:r>
              <a:rPr lang="en-GB" sz="2000" b="1" dirty="0">
                <a:latin typeface="Times New Roman" panose="02020603050405020304" pitchFamily="18" charset="0"/>
                <a:cs typeface="Times New Roman" panose="02020603050405020304" pitchFamily="18" charset="0"/>
              </a:rPr>
              <a:t>What is the total and average purchase value per customer?</a:t>
            </a:r>
            <a:endParaRPr lang="en-US" sz="2000"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6771244" y="930142"/>
            <a:ext cx="4833497" cy="5552954"/>
          </a:xfrm>
          <a:prstGeom prst="rect">
            <a:avLst/>
          </a:prstGeom>
        </p:spPr>
      </p:pic>
      <p:pic>
        <p:nvPicPr>
          <p:cNvPr id="8" name="Picture 7"/>
          <p:cNvPicPr>
            <a:picLocks noChangeAspect="1"/>
          </p:cNvPicPr>
          <p:nvPr/>
        </p:nvPicPr>
        <p:blipFill>
          <a:blip r:embed="rId2"/>
          <a:stretch>
            <a:fillRect/>
          </a:stretch>
        </p:blipFill>
        <p:spPr>
          <a:xfrm>
            <a:off x="310896" y="1516284"/>
            <a:ext cx="6281902" cy="332193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0040" y="402336"/>
            <a:ext cx="11585448" cy="400110"/>
          </a:xfrm>
          <a:prstGeom prst="rect">
            <a:avLst/>
          </a:prstGeom>
          <a:noFill/>
        </p:spPr>
        <p:txBody>
          <a:bodyPr wrap="square" rtlCol="0">
            <a:spAutoFit/>
          </a:bodyPr>
          <a:lstStyle/>
          <a:p>
            <a:r>
              <a:rPr lang="en-GB" sz="2000" b="1" dirty="0">
                <a:latin typeface="Times New Roman" panose="02020603050405020304" pitchFamily="18" charset="0"/>
                <a:cs typeface="Times New Roman" panose="02020603050405020304" pitchFamily="18" charset="0"/>
              </a:rPr>
              <a:t>What is the average price of products by category</a:t>
            </a:r>
            <a:endParaRPr lang="en-US" sz="2000"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7420927" y="90581"/>
            <a:ext cx="4257675" cy="2348865"/>
          </a:xfrm>
          <a:prstGeom prst="rect">
            <a:avLst/>
          </a:prstGeom>
        </p:spPr>
      </p:pic>
      <p:pic>
        <p:nvPicPr>
          <p:cNvPr id="8" name="Picture 7"/>
          <p:cNvPicPr>
            <a:picLocks noChangeAspect="1"/>
          </p:cNvPicPr>
          <p:nvPr/>
        </p:nvPicPr>
        <p:blipFill>
          <a:blip r:embed="rId2"/>
          <a:stretch>
            <a:fillRect/>
          </a:stretch>
        </p:blipFill>
        <p:spPr>
          <a:xfrm>
            <a:off x="7530464" y="2419350"/>
            <a:ext cx="3562350" cy="4438650"/>
          </a:xfrm>
          <a:prstGeom prst="rect">
            <a:avLst/>
          </a:prstGeom>
        </p:spPr>
      </p:pic>
      <p:sp>
        <p:nvSpPr>
          <p:cNvPr id="10" name="TextBox 9"/>
          <p:cNvSpPr txBox="1"/>
          <p:nvPr/>
        </p:nvSpPr>
        <p:spPr>
          <a:xfrm>
            <a:off x="16764" y="2600736"/>
            <a:ext cx="7513700" cy="400110"/>
          </a:xfrm>
          <a:prstGeom prst="rect">
            <a:avLst/>
          </a:prstGeom>
          <a:noFill/>
        </p:spPr>
        <p:txBody>
          <a:bodyPr wrap="square">
            <a:spAutoFit/>
          </a:bodyPr>
          <a:lstStyle/>
          <a:p>
            <a:r>
              <a:rPr lang="en-IN" dirty="0"/>
              <a:t> </a:t>
            </a:r>
            <a:r>
              <a:rPr lang="en-IN" sz="2000" b="1" dirty="0">
                <a:latin typeface="Times New Roman" panose="02020603050405020304" pitchFamily="18" charset="0"/>
                <a:cs typeface="Times New Roman" panose="02020603050405020304" pitchFamily="18" charset="0"/>
              </a:rPr>
              <a:t>Which products have the highest total sales volume (by quantity)?</a:t>
            </a:r>
            <a:endParaRPr lang="en-IN" sz="2000" b="1" dirty="0">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3"/>
          <a:stretch>
            <a:fillRect/>
          </a:stretch>
        </p:blipFill>
        <p:spPr>
          <a:xfrm>
            <a:off x="96202" y="1067006"/>
            <a:ext cx="6621589" cy="962025"/>
          </a:xfrm>
          <a:prstGeom prst="rect">
            <a:avLst/>
          </a:prstGeom>
        </p:spPr>
      </p:pic>
      <p:pic>
        <p:nvPicPr>
          <p:cNvPr id="14" name="Picture 13"/>
          <p:cNvPicPr>
            <a:picLocks noChangeAspect="1"/>
          </p:cNvPicPr>
          <p:nvPr/>
        </p:nvPicPr>
        <p:blipFill>
          <a:blip r:embed="rId4"/>
          <a:stretch>
            <a:fillRect/>
          </a:stretch>
        </p:blipFill>
        <p:spPr>
          <a:xfrm>
            <a:off x="678941" y="3162300"/>
            <a:ext cx="6038850" cy="29527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3" name="TextBox 2"/>
          <p:cNvSpPr txBox="1"/>
          <p:nvPr/>
        </p:nvSpPr>
        <p:spPr>
          <a:xfrm>
            <a:off x="194692" y="240441"/>
            <a:ext cx="11430000" cy="400110"/>
          </a:xfrm>
          <a:prstGeom prst="rect">
            <a:avLst/>
          </a:prstGeom>
          <a:noFill/>
        </p:spPr>
        <p:txBody>
          <a:bodyPr wrap="square" rtlCol="0">
            <a:spAutoFit/>
          </a:bodyPr>
          <a:lstStyle/>
          <a:p>
            <a:r>
              <a:rPr lang="en-GB" sz="2000" b="1" dirty="0">
                <a:latin typeface="Times New Roman" panose="02020603050405020304" pitchFamily="18" charset="0"/>
                <a:cs typeface="Times New Roman" panose="02020603050405020304" pitchFamily="18" charset="0"/>
              </a:rPr>
              <a:t>Who are the top 5 customers by total purchase amount?</a:t>
            </a:r>
            <a:endParaRPr lang="en-US" sz="2000"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429767" y="3423452"/>
            <a:ext cx="10624055" cy="400110"/>
          </a:xfrm>
          <a:prstGeom prst="rect">
            <a:avLst/>
          </a:prstGeom>
          <a:noFill/>
        </p:spPr>
        <p:txBody>
          <a:bodyPr wrap="square">
            <a:spAutoFit/>
          </a:bodyPr>
          <a:lstStyle/>
          <a:p>
            <a:r>
              <a:rPr lang="en-GB" sz="2000" b="1" dirty="0">
                <a:latin typeface="Times New Roman" panose="02020603050405020304" pitchFamily="18" charset="0"/>
                <a:cs typeface="Times New Roman" panose="02020603050405020304" pitchFamily="18" charset="0"/>
              </a:rPr>
              <a:t>Product Performance--  How many products exist in each category</a:t>
            </a:r>
            <a:r>
              <a:rPr lang="en-US" sz="2000" b="1" dirty="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1"/>
          <a:stretch>
            <a:fillRect/>
          </a:stretch>
        </p:blipFill>
        <p:spPr>
          <a:xfrm>
            <a:off x="6828212" y="1158637"/>
            <a:ext cx="4646059" cy="1746728"/>
          </a:xfrm>
          <a:prstGeom prst="rect">
            <a:avLst/>
          </a:prstGeom>
        </p:spPr>
      </p:pic>
      <p:pic>
        <p:nvPicPr>
          <p:cNvPr id="11" name="Picture 10"/>
          <p:cNvPicPr>
            <a:picLocks noChangeAspect="1"/>
          </p:cNvPicPr>
          <p:nvPr/>
        </p:nvPicPr>
        <p:blipFill>
          <a:blip r:embed="rId2"/>
          <a:stretch>
            <a:fillRect/>
          </a:stretch>
        </p:blipFill>
        <p:spPr>
          <a:xfrm>
            <a:off x="6635169" y="4114987"/>
            <a:ext cx="5032143" cy="2115503"/>
          </a:xfrm>
          <a:prstGeom prst="rect">
            <a:avLst/>
          </a:prstGeom>
        </p:spPr>
      </p:pic>
      <p:pic>
        <p:nvPicPr>
          <p:cNvPr id="13" name="Picture 12"/>
          <p:cNvPicPr>
            <a:picLocks noChangeAspect="1"/>
          </p:cNvPicPr>
          <p:nvPr/>
        </p:nvPicPr>
        <p:blipFill>
          <a:blip r:embed="rId3"/>
          <a:stretch>
            <a:fillRect/>
          </a:stretch>
        </p:blipFill>
        <p:spPr>
          <a:xfrm>
            <a:off x="316612" y="4114987"/>
            <a:ext cx="5593080" cy="1746728"/>
          </a:xfrm>
          <a:prstGeom prst="rect">
            <a:avLst/>
          </a:prstGeom>
        </p:spPr>
      </p:pic>
      <p:pic>
        <p:nvPicPr>
          <p:cNvPr id="17" name="Picture 16"/>
          <p:cNvPicPr>
            <a:picLocks noChangeAspect="1"/>
          </p:cNvPicPr>
          <p:nvPr/>
        </p:nvPicPr>
        <p:blipFill>
          <a:blip r:embed="rId4"/>
          <a:stretch>
            <a:fillRect/>
          </a:stretch>
        </p:blipFill>
        <p:spPr>
          <a:xfrm>
            <a:off x="502920" y="855552"/>
            <a:ext cx="5593080" cy="22764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2471" y="357729"/>
            <a:ext cx="11274552" cy="400110"/>
          </a:xfrm>
          <a:prstGeom prst="rect">
            <a:avLst/>
          </a:prstGeom>
          <a:noFill/>
        </p:spPr>
        <p:txBody>
          <a:bodyPr wrap="square" rtlCol="0">
            <a:spAutoFit/>
          </a:bodyPr>
          <a:lstStyle/>
          <a:p>
            <a:r>
              <a:rPr lang="en-GB" sz="2000" b="1" dirty="0">
                <a:latin typeface="Times New Roman" panose="02020603050405020304" pitchFamily="18" charset="0"/>
                <a:cs typeface="Times New Roman" panose="02020603050405020304" pitchFamily="18" charset="0"/>
              </a:rPr>
              <a:t>What is the total revenue generated by each product</a:t>
            </a:r>
            <a:r>
              <a:rPr lang="en-US" sz="2000" b="1" dirty="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7415228" y="757839"/>
            <a:ext cx="4352150" cy="5342322"/>
          </a:xfrm>
          <a:prstGeom prst="rect">
            <a:avLst/>
          </a:prstGeom>
        </p:spPr>
      </p:pic>
      <p:pic>
        <p:nvPicPr>
          <p:cNvPr id="10" name="Picture 9"/>
          <p:cNvPicPr>
            <a:picLocks noChangeAspect="1"/>
          </p:cNvPicPr>
          <p:nvPr/>
        </p:nvPicPr>
        <p:blipFill>
          <a:blip r:embed="rId2"/>
          <a:stretch>
            <a:fillRect/>
          </a:stretch>
        </p:blipFill>
        <p:spPr>
          <a:xfrm>
            <a:off x="530542" y="1382077"/>
            <a:ext cx="7067458" cy="337511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32232" y="323606"/>
            <a:ext cx="9945624" cy="400110"/>
          </a:xfrm>
          <a:prstGeom prst="rect">
            <a:avLst/>
          </a:prstGeom>
        </p:spPr>
        <p:txBody>
          <a:bodyPr wrap="square">
            <a:spAutoFit/>
          </a:bodyPr>
          <a:lstStyle/>
          <a:p>
            <a:r>
              <a:rPr lang="en-GB" sz="2000" b="1" dirty="0">
                <a:latin typeface="Times New Roman" panose="02020603050405020304" pitchFamily="18" charset="0"/>
                <a:cs typeface="Times New Roman" panose="02020603050405020304" pitchFamily="18" charset="0"/>
              </a:rPr>
              <a:t>How do product sales vary by category and supplier</a:t>
            </a:r>
            <a:r>
              <a:rPr lang="en-US" sz="2000" b="1" dirty="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1"/>
          <a:stretch>
            <a:fillRect/>
          </a:stretch>
        </p:blipFill>
        <p:spPr>
          <a:xfrm>
            <a:off x="480952" y="1403122"/>
            <a:ext cx="6011263" cy="3300504"/>
          </a:xfrm>
          <a:prstGeom prst="rect">
            <a:avLst/>
          </a:prstGeom>
        </p:spPr>
      </p:pic>
      <p:pic>
        <p:nvPicPr>
          <p:cNvPr id="10" name="Picture 9"/>
          <p:cNvPicPr>
            <a:picLocks noChangeAspect="1"/>
          </p:cNvPicPr>
          <p:nvPr/>
        </p:nvPicPr>
        <p:blipFill>
          <a:blip r:embed="rId2"/>
          <a:stretch>
            <a:fillRect/>
          </a:stretch>
        </p:blipFill>
        <p:spPr>
          <a:xfrm>
            <a:off x="7368952" y="941884"/>
            <a:ext cx="4118572" cy="497423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21378" y="330743"/>
            <a:ext cx="5515542" cy="400110"/>
          </a:xfrm>
          <a:prstGeom prst="rect">
            <a:avLst/>
          </a:prstGeom>
        </p:spPr>
        <p:txBody>
          <a:bodyPr wrap="square">
            <a:spAutoFit/>
          </a:bodyPr>
          <a:lstStyle/>
          <a:p>
            <a:r>
              <a:rPr lang="en-GB" sz="2000" b="1" dirty="0">
                <a:latin typeface="Times New Roman" panose="02020603050405020304" pitchFamily="18" charset="0"/>
                <a:cs typeface="Times New Roman" panose="02020603050405020304" pitchFamily="18" charset="0"/>
              </a:rPr>
              <a:t>How many orders have been placed in total</a:t>
            </a:r>
            <a:r>
              <a:rPr lang="en-US" sz="2000" b="1" dirty="0">
                <a:latin typeface="Times New Roman" panose="02020603050405020304" pitchFamily="18" charset="0"/>
                <a:cs typeface="Times New Roman" panose="02020603050405020304" pitchFamily="18" charset="0"/>
              </a:rPr>
              <a:t>? </a:t>
            </a:r>
            <a:endParaRPr lang="en-US" sz="2000" b="1"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1"/>
          <a:stretch>
            <a:fillRect/>
          </a:stretch>
        </p:blipFill>
        <p:spPr>
          <a:xfrm>
            <a:off x="761216" y="1073950"/>
            <a:ext cx="5181600" cy="581025"/>
          </a:xfrm>
          <a:prstGeom prst="rect">
            <a:avLst/>
          </a:prstGeom>
        </p:spPr>
      </p:pic>
      <p:pic>
        <p:nvPicPr>
          <p:cNvPr id="9" name="Picture 8"/>
          <p:cNvPicPr>
            <a:picLocks noChangeAspect="1"/>
          </p:cNvPicPr>
          <p:nvPr/>
        </p:nvPicPr>
        <p:blipFill>
          <a:blip r:embed="rId2"/>
          <a:stretch>
            <a:fillRect/>
          </a:stretch>
        </p:blipFill>
        <p:spPr>
          <a:xfrm>
            <a:off x="8634980" y="642202"/>
            <a:ext cx="3235642" cy="1151669"/>
          </a:xfrm>
          <a:prstGeom prst="rect">
            <a:avLst/>
          </a:prstGeom>
        </p:spPr>
      </p:pic>
      <p:sp>
        <p:nvSpPr>
          <p:cNvPr id="13" name="TextBox 12"/>
          <p:cNvSpPr txBox="1"/>
          <p:nvPr/>
        </p:nvSpPr>
        <p:spPr>
          <a:xfrm>
            <a:off x="321378" y="2201560"/>
            <a:ext cx="6094070" cy="461665"/>
          </a:xfrm>
          <a:prstGeom prst="rect">
            <a:avLst/>
          </a:prstGeom>
          <a:noFill/>
        </p:spPr>
        <p:txBody>
          <a:bodyPr wrap="square">
            <a:spAutoFit/>
          </a:bodyPr>
          <a:lstStyle/>
          <a:p>
            <a:r>
              <a:rPr lang="en-GB" sz="2400" b="1" dirty="0">
                <a:latin typeface="Times New Roman" panose="02020603050405020304" pitchFamily="18" charset="0"/>
                <a:cs typeface="Times New Roman" panose="02020603050405020304" pitchFamily="18" charset="0"/>
              </a:rPr>
              <a:t>What is the average value per order</a:t>
            </a:r>
            <a:r>
              <a:rPr lang="en-US" sz="2400" b="1" dirty="0">
                <a:latin typeface="Times New Roman" panose="02020603050405020304" pitchFamily="18" charset="0"/>
                <a:cs typeface="Times New Roman" panose="02020603050405020304" pitchFamily="18" charset="0"/>
              </a:rPr>
              <a:t>?</a:t>
            </a:r>
            <a:endParaRPr lang="en-US" sz="2400" b="1" dirty="0">
              <a:latin typeface="Times New Roman" panose="02020603050405020304" pitchFamily="18" charset="0"/>
              <a:cs typeface="Times New Roman" panose="02020603050405020304" pitchFamily="18" charset="0"/>
            </a:endParaRPr>
          </a:p>
        </p:txBody>
      </p:sp>
      <p:pic>
        <p:nvPicPr>
          <p:cNvPr id="14" name="Picture 13"/>
          <p:cNvPicPr>
            <a:picLocks noChangeAspect="1"/>
          </p:cNvPicPr>
          <p:nvPr/>
        </p:nvPicPr>
        <p:blipFill>
          <a:blip r:embed="rId3"/>
          <a:stretch>
            <a:fillRect/>
          </a:stretch>
        </p:blipFill>
        <p:spPr>
          <a:xfrm>
            <a:off x="761216" y="2923188"/>
            <a:ext cx="4381500" cy="2543175"/>
          </a:xfrm>
          <a:prstGeom prst="rect">
            <a:avLst/>
          </a:prstGeom>
        </p:spPr>
      </p:pic>
      <p:pic>
        <p:nvPicPr>
          <p:cNvPr id="15" name="Picture 14"/>
          <p:cNvPicPr>
            <a:picLocks noChangeAspect="1"/>
          </p:cNvPicPr>
          <p:nvPr/>
        </p:nvPicPr>
        <p:blipFill>
          <a:blip r:embed="rId4"/>
          <a:stretch>
            <a:fillRect/>
          </a:stretch>
        </p:blipFill>
        <p:spPr>
          <a:xfrm>
            <a:off x="8786369" y="3527370"/>
            <a:ext cx="2932863" cy="15367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0" y="245551"/>
            <a:ext cx="609600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On which dates were the most orders placed? </a:t>
            </a:r>
            <a:endParaRPr lang="en-IN" sz="2400" b="1" dirty="0">
              <a:latin typeface="Times New Roman" panose="02020603050405020304" pitchFamily="18" charset="0"/>
              <a:cs typeface="Times New Roman" panose="02020603050405020304" pitchFamily="18" charset="0"/>
            </a:endParaRPr>
          </a:p>
        </p:txBody>
      </p:sp>
      <p:pic>
        <p:nvPicPr>
          <p:cNvPr id="14" name="Picture 13"/>
          <p:cNvPicPr>
            <a:picLocks noChangeAspect="1"/>
          </p:cNvPicPr>
          <p:nvPr/>
        </p:nvPicPr>
        <p:blipFill>
          <a:blip r:embed="rId1"/>
          <a:stretch>
            <a:fillRect/>
          </a:stretch>
        </p:blipFill>
        <p:spPr>
          <a:xfrm>
            <a:off x="636366" y="1267934"/>
            <a:ext cx="5772150" cy="1085850"/>
          </a:xfrm>
          <a:prstGeom prst="rect">
            <a:avLst/>
          </a:prstGeom>
        </p:spPr>
      </p:pic>
      <p:pic>
        <p:nvPicPr>
          <p:cNvPr id="15" name="Picture 14"/>
          <p:cNvPicPr>
            <a:picLocks noChangeAspect="1"/>
          </p:cNvPicPr>
          <p:nvPr/>
        </p:nvPicPr>
        <p:blipFill>
          <a:blip r:embed="rId2"/>
          <a:stretch>
            <a:fillRect/>
          </a:stretch>
        </p:blipFill>
        <p:spPr>
          <a:xfrm>
            <a:off x="7572234" y="344040"/>
            <a:ext cx="3770955" cy="571392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9636" y="297028"/>
            <a:ext cx="6712094" cy="400110"/>
          </a:xfrm>
          <a:prstGeom prst="rect">
            <a:avLst/>
          </a:prstGeom>
        </p:spPr>
        <p:txBody>
          <a:bodyPr wrap="none">
            <a:spAutoFit/>
          </a:bodyPr>
          <a:lstStyle/>
          <a:p>
            <a:r>
              <a:rPr lang="en-GB" sz="2000" b="1" dirty="0">
                <a:latin typeface="Times New Roman" panose="02020603050405020304" pitchFamily="18" charset="0"/>
                <a:cs typeface="Times New Roman" panose="02020603050405020304" pitchFamily="18" charset="0"/>
              </a:rPr>
              <a:t>What are the monthly trends in order volume and revenue?</a:t>
            </a:r>
            <a:endParaRPr lang="en-US" sz="2000" b="1"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1"/>
          <a:stretch>
            <a:fillRect/>
          </a:stretch>
        </p:blipFill>
        <p:spPr>
          <a:xfrm>
            <a:off x="229553" y="1028700"/>
            <a:ext cx="7085648" cy="2400300"/>
          </a:xfrm>
          <a:prstGeom prst="rect">
            <a:avLst/>
          </a:prstGeom>
        </p:spPr>
      </p:pic>
      <p:pic>
        <p:nvPicPr>
          <p:cNvPr id="9" name="Picture 8"/>
          <p:cNvPicPr>
            <a:picLocks noChangeAspect="1"/>
          </p:cNvPicPr>
          <p:nvPr/>
        </p:nvPicPr>
        <p:blipFill>
          <a:blip r:embed="rId2"/>
          <a:stretch>
            <a:fillRect/>
          </a:stretch>
        </p:blipFill>
        <p:spPr>
          <a:xfrm>
            <a:off x="6831730" y="1148238"/>
            <a:ext cx="4567274" cy="395192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7019" y="119275"/>
            <a:ext cx="6837128" cy="400110"/>
          </a:xfrm>
          <a:prstGeom prst="rect">
            <a:avLst/>
          </a:prstGeom>
        </p:spPr>
        <p:txBody>
          <a:bodyPr wrap="none">
            <a:spAutoFit/>
          </a:bodyPr>
          <a:lstStyle/>
          <a:p>
            <a:r>
              <a:rPr lang="en-GB" sz="2000" b="1" dirty="0">
                <a:latin typeface="Times New Roman" panose="02020603050405020304" pitchFamily="18" charset="0"/>
                <a:cs typeface="Times New Roman" panose="02020603050405020304" pitchFamily="18" charset="0"/>
              </a:rPr>
              <a:t>How do order patterns vary across weekdays and weekends?</a:t>
            </a:r>
            <a:endParaRPr lang="en-US" sz="2000" b="1"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1"/>
          <a:stretch>
            <a:fillRect/>
          </a:stretch>
        </p:blipFill>
        <p:spPr>
          <a:xfrm>
            <a:off x="257019" y="628259"/>
            <a:ext cx="7012076" cy="3086100"/>
          </a:xfrm>
          <a:prstGeom prst="rect">
            <a:avLst/>
          </a:prstGeom>
        </p:spPr>
      </p:pic>
      <p:pic>
        <p:nvPicPr>
          <p:cNvPr id="10" name="Picture 9"/>
          <p:cNvPicPr>
            <a:picLocks noChangeAspect="1"/>
          </p:cNvPicPr>
          <p:nvPr/>
        </p:nvPicPr>
        <p:blipFill>
          <a:blip r:embed="rId2"/>
          <a:stretch>
            <a:fillRect/>
          </a:stretch>
        </p:blipFill>
        <p:spPr>
          <a:xfrm>
            <a:off x="8248806" y="1171184"/>
            <a:ext cx="3686175" cy="1000125"/>
          </a:xfrm>
          <a:prstGeom prst="rect">
            <a:avLst/>
          </a:prstGeom>
        </p:spPr>
      </p:pic>
      <p:sp>
        <p:nvSpPr>
          <p:cNvPr id="12" name="TextBox 11"/>
          <p:cNvSpPr txBox="1"/>
          <p:nvPr/>
        </p:nvSpPr>
        <p:spPr>
          <a:xfrm>
            <a:off x="366217" y="3968382"/>
            <a:ext cx="6094070" cy="707886"/>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4. Supplier Contribution</a:t>
            </a:r>
            <a:endParaRPr lang="en-US" sz="2000" b="1" dirty="0">
              <a:latin typeface="Times New Roman" panose="02020603050405020304" pitchFamily="18" charset="0"/>
              <a:cs typeface="Times New Roman" panose="02020603050405020304" pitchFamily="18" charset="0"/>
            </a:endParaRPr>
          </a:p>
          <a:p>
            <a:r>
              <a:rPr lang="en-GB" sz="2000" b="1" dirty="0">
                <a:latin typeface="Times New Roman" panose="02020603050405020304" pitchFamily="18" charset="0"/>
                <a:cs typeface="Times New Roman" panose="02020603050405020304" pitchFamily="18" charset="0"/>
              </a:rPr>
              <a:t>How many suppliers are there in the database? </a:t>
            </a:r>
            <a:endParaRPr lang="en-US" sz="2000" b="1" dirty="0">
              <a:latin typeface="Times New Roman" panose="02020603050405020304" pitchFamily="18" charset="0"/>
              <a:cs typeface="Times New Roman" panose="02020603050405020304" pitchFamily="18" charset="0"/>
            </a:endParaRPr>
          </a:p>
        </p:txBody>
      </p:sp>
      <p:pic>
        <p:nvPicPr>
          <p:cNvPr id="13" name="Picture 12"/>
          <p:cNvPicPr>
            <a:picLocks noChangeAspect="1"/>
          </p:cNvPicPr>
          <p:nvPr/>
        </p:nvPicPr>
        <p:blipFill>
          <a:blip r:embed="rId3"/>
          <a:stretch>
            <a:fillRect/>
          </a:stretch>
        </p:blipFill>
        <p:spPr>
          <a:xfrm>
            <a:off x="348877" y="4930291"/>
            <a:ext cx="6654834" cy="802593"/>
          </a:xfrm>
          <a:prstGeom prst="rect">
            <a:avLst/>
          </a:prstGeom>
        </p:spPr>
      </p:pic>
      <p:pic>
        <p:nvPicPr>
          <p:cNvPr id="14" name="Picture 13"/>
          <p:cNvPicPr>
            <a:picLocks noChangeAspect="1"/>
          </p:cNvPicPr>
          <p:nvPr/>
        </p:nvPicPr>
        <p:blipFill>
          <a:blip r:embed="rId4"/>
          <a:stretch>
            <a:fillRect/>
          </a:stretch>
        </p:blipFill>
        <p:spPr>
          <a:xfrm>
            <a:off x="8990269" y="4676268"/>
            <a:ext cx="3062377" cy="11509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2" name="TextBox 11"/>
          <p:cNvSpPr txBox="1"/>
          <p:nvPr/>
        </p:nvSpPr>
        <p:spPr>
          <a:xfrm>
            <a:off x="0" y="184984"/>
            <a:ext cx="6096000" cy="461665"/>
          </a:xfrm>
          <a:prstGeom prst="rect">
            <a:avLst/>
          </a:prstGeom>
          <a:noFill/>
        </p:spPr>
        <p:txBody>
          <a:bodyPr wrap="square">
            <a:spAutoFit/>
          </a:bodyPr>
          <a:lstStyle/>
          <a:p>
            <a:r>
              <a:rPr lang="en-IN" dirty="0"/>
              <a:t> </a:t>
            </a:r>
            <a:r>
              <a:rPr lang="en-IN" sz="2400" b="1" dirty="0">
                <a:latin typeface="Times New Roman" panose="02020603050405020304" pitchFamily="18" charset="0"/>
                <a:cs typeface="Times New Roman" panose="02020603050405020304" pitchFamily="18" charset="0"/>
              </a:rPr>
              <a:t>Which supplier provides the most products</a:t>
            </a:r>
            <a:r>
              <a:rPr lang="en-IN" dirty="0"/>
              <a:t>?</a:t>
            </a:r>
            <a:endParaRPr lang="en-IN" dirty="0"/>
          </a:p>
        </p:txBody>
      </p:sp>
      <p:sp>
        <p:nvSpPr>
          <p:cNvPr id="14" name="TextBox 13"/>
          <p:cNvSpPr txBox="1"/>
          <p:nvPr/>
        </p:nvSpPr>
        <p:spPr>
          <a:xfrm>
            <a:off x="95104" y="3502460"/>
            <a:ext cx="8173751"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What is the average price of products from each supplier?</a:t>
            </a:r>
            <a:endParaRPr lang="en-IN" sz="2400" b="1" dirty="0">
              <a:latin typeface="Times New Roman" panose="02020603050405020304" pitchFamily="18" charset="0"/>
              <a:cs typeface="Times New Roman" panose="02020603050405020304" pitchFamily="18" charset="0"/>
            </a:endParaRPr>
          </a:p>
        </p:txBody>
      </p:sp>
      <p:pic>
        <p:nvPicPr>
          <p:cNvPr id="19" name="Picture 18"/>
          <p:cNvPicPr>
            <a:picLocks noChangeAspect="1"/>
          </p:cNvPicPr>
          <p:nvPr/>
        </p:nvPicPr>
        <p:blipFill>
          <a:blip r:embed="rId1"/>
          <a:stretch>
            <a:fillRect/>
          </a:stretch>
        </p:blipFill>
        <p:spPr>
          <a:xfrm>
            <a:off x="487332" y="807901"/>
            <a:ext cx="6457950" cy="2085975"/>
          </a:xfrm>
          <a:prstGeom prst="rect">
            <a:avLst/>
          </a:prstGeom>
        </p:spPr>
      </p:pic>
      <p:pic>
        <p:nvPicPr>
          <p:cNvPr id="21" name="Picture 20"/>
          <p:cNvPicPr>
            <a:picLocks noChangeAspect="1"/>
          </p:cNvPicPr>
          <p:nvPr/>
        </p:nvPicPr>
        <p:blipFill>
          <a:blip r:embed="rId2"/>
          <a:stretch>
            <a:fillRect/>
          </a:stretch>
        </p:blipFill>
        <p:spPr>
          <a:xfrm>
            <a:off x="95104" y="4175828"/>
            <a:ext cx="8672409" cy="1182053"/>
          </a:xfrm>
          <a:prstGeom prst="rect">
            <a:avLst/>
          </a:prstGeom>
        </p:spPr>
      </p:pic>
      <p:pic>
        <p:nvPicPr>
          <p:cNvPr id="23" name="Picture 22"/>
          <p:cNvPicPr>
            <a:picLocks noChangeAspect="1"/>
          </p:cNvPicPr>
          <p:nvPr/>
        </p:nvPicPr>
        <p:blipFill>
          <a:blip r:embed="rId3"/>
          <a:stretch>
            <a:fillRect/>
          </a:stretch>
        </p:blipFill>
        <p:spPr>
          <a:xfrm>
            <a:off x="8140321" y="3502460"/>
            <a:ext cx="3575555" cy="2605739"/>
          </a:xfrm>
          <a:prstGeom prst="rect">
            <a:avLst/>
          </a:prstGeom>
        </p:spPr>
      </p:pic>
      <p:pic>
        <p:nvPicPr>
          <p:cNvPr id="25" name="Picture 24"/>
          <p:cNvPicPr>
            <a:picLocks noChangeAspect="1"/>
          </p:cNvPicPr>
          <p:nvPr/>
        </p:nvPicPr>
        <p:blipFill>
          <a:blip r:embed="rId4"/>
          <a:stretch>
            <a:fillRect/>
          </a:stretch>
        </p:blipFill>
        <p:spPr>
          <a:xfrm>
            <a:off x="6454877" y="1214955"/>
            <a:ext cx="5675132" cy="125045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2" name="Rectangle 1"/>
          <p:cNvSpPr/>
          <p:nvPr/>
        </p:nvSpPr>
        <p:spPr>
          <a:xfrm>
            <a:off x="0" y="229857"/>
            <a:ext cx="8081058" cy="400110"/>
          </a:xfrm>
          <a:prstGeom prst="rect">
            <a:avLst/>
          </a:prstGeom>
        </p:spPr>
        <p:txBody>
          <a:bodyPr wrap="none">
            <a:spAutoFit/>
          </a:bodyPr>
          <a:lstStyle/>
          <a:p>
            <a:r>
              <a:rPr lang="en-GB" sz="2000" b="1" dirty="0">
                <a:latin typeface="Times New Roman" panose="02020603050405020304" pitchFamily="18" charset="0"/>
                <a:cs typeface="Times New Roman" panose="02020603050405020304" pitchFamily="18" charset="0"/>
              </a:rPr>
              <a:t>Which suppliers contribute the most to total product sales (by revenue)</a:t>
            </a:r>
            <a:r>
              <a:rPr lang="en-US" sz="2000" b="1" dirty="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0" y="3133070"/>
            <a:ext cx="609600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5. Employee Performance </a:t>
            </a:r>
            <a:endParaRPr lang="en-IN" sz="24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0" y="3594735"/>
            <a:ext cx="614172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How many employees have processed orders?</a:t>
            </a:r>
            <a:endParaRPr lang="en-IN" sz="2400" b="1" dirty="0">
              <a:latin typeface="Times New Roman" panose="02020603050405020304" pitchFamily="18" charset="0"/>
              <a:cs typeface="Times New Roman" panose="02020603050405020304" pitchFamily="18" charset="0"/>
            </a:endParaRPr>
          </a:p>
        </p:txBody>
      </p:sp>
      <p:pic>
        <p:nvPicPr>
          <p:cNvPr id="14" name="Picture 13"/>
          <p:cNvPicPr>
            <a:picLocks noChangeAspect="1"/>
          </p:cNvPicPr>
          <p:nvPr/>
        </p:nvPicPr>
        <p:blipFill>
          <a:blip r:embed="rId1"/>
          <a:stretch>
            <a:fillRect/>
          </a:stretch>
        </p:blipFill>
        <p:spPr>
          <a:xfrm>
            <a:off x="629566" y="695656"/>
            <a:ext cx="5715000" cy="2371725"/>
          </a:xfrm>
          <a:prstGeom prst="rect">
            <a:avLst/>
          </a:prstGeom>
        </p:spPr>
      </p:pic>
      <p:pic>
        <p:nvPicPr>
          <p:cNvPr id="16" name="Picture 15"/>
          <p:cNvPicPr>
            <a:picLocks noChangeAspect="1"/>
          </p:cNvPicPr>
          <p:nvPr/>
        </p:nvPicPr>
        <p:blipFill>
          <a:blip r:embed="rId2"/>
          <a:stretch>
            <a:fillRect/>
          </a:stretch>
        </p:blipFill>
        <p:spPr>
          <a:xfrm>
            <a:off x="1" y="4518065"/>
            <a:ext cx="7349924" cy="609309"/>
          </a:xfrm>
          <a:prstGeom prst="rect">
            <a:avLst/>
          </a:prstGeom>
        </p:spPr>
      </p:pic>
      <p:pic>
        <p:nvPicPr>
          <p:cNvPr id="20" name="Picture 19"/>
          <p:cNvPicPr>
            <a:picLocks noChangeAspect="1"/>
          </p:cNvPicPr>
          <p:nvPr/>
        </p:nvPicPr>
        <p:blipFill>
          <a:blip r:embed="rId3"/>
          <a:stretch>
            <a:fillRect/>
          </a:stretch>
        </p:blipFill>
        <p:spPr>
          <a:xfrm>
            <a:off x="7502698" y="4210805"/>
            <a:ext cx="4471679" cy="1223828"/>
          </a:xfrm>
          <a:prstGeom prst="rect">
            <a:avLst/>
          </a:prstGeom>
        </p:spPr>
      </p:pic>
      <p:pic>
        <p:nvPicPr>
          <p:cNvPr id="22" name="Picture 21"/>
          <p:cNvPicPr>
            <a:picLocks noChangeAspect="1"/>
          </p:cNvPicPr>
          <p:nvPr/>
        </p:nvPicPr>
        <p:blipFill>
          <a:blip r:embed="rId4"/>
          <a:stretch>
            <a:fillRect/>
          </a:stretch>
        </p:blipFill>
        <p:spPr>
          <a:xfrm>
            <a:off x="7502698" y="940822"/>
            <a:ext cx="4139400" cy="219224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79214" y="180813"/>
            <a:ext cx="1045464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Which employees have handled the most orders?</a:t>
            </a:r>
            <a:endParaRPr lang="en-IN" sz="2400" b="1"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1"/>
          <a:stretch>
            <a:fillRect/>
          </a:stretch>
        </p:blipFill>
        <p:spPr>
          <a:xfrm>
            <a:off x="327564" y="748664"/>
            <a:ext cx="6705600" cy="1609725"/>
          </a:xfrm>
          <a:prstGeom prst="rect">
            <a:avLst/>
          </a:prstGeom>
        </p:spPr>
      </p:pic>
      <p:pic>
        <p:nvPicPr>
          <p:cNvPr id="11" name="Picture 10"/>
          <p:cNvPicPr>
            <a:picLocks noChangeAspect="1"/>
          </p:cNvPicPr>
          <p:nvPr/>
        </p:nvPicPr>
        <p:blipFill>
          <a:blip r:embed="rId2"/>
          <a:stretch>
            <a:fillRect/>
          </a:stretch>
        </p:blipFill>
        <p:spPr>
          <a:xfrm>
            <a:off x="7467829" y="534525"/>
            <a:ext cx="3954310" cy="3003547"/>
          </a:xfrm>
          <a:prstGeom prst="rect">
            <a:avLst/>
          </a:prstGeom>
        </p:spPr>
      </p:pic>
      <p:pic>
        <p:nvPicPr>
          <p:cNvPr id="12" name="Picture 11"/>
          <p:cNvPicPr>
            <a:picLocks noChangeAspect="1"/>
          </p:cNvPicPr>
          <p:nvPr/>
        </p:nvPicPr>
        <p:blipFill>
          <a:blip r:embed="rId3"/>
          <a:stretch>
            <a:fillRect/>
          </a:stretch>
        </p:blipFill>
        <p:spPr>
          <a:xfrm>
            <a:off x="7467830" y="3723150"/>
            <a:ext cx="4100308" cy="2892465"/>
          </a:xfrm>
          <a:prstGeom prst="rect">
            <a:avLst/>
          </a:prstGeom>
        </p:spPr>
      </p:pic>
      <p:pic>
        <p:nvPicPr>
          <p:cNvPr id="13" name="Picture 12"/>
          <p:cNvPicPr>
            <a:picLocks noChangeAspect="1"/>
          </p:cNvPicPr>
          <p:nvPr/>
        </p:nvPicPr>
        <p:blipFill>
          <a:blip r:embed="rId4"/>
          <a:stretch>
            <a:fillRect/>
          </a:stretch>
        </p:blipFill>
        <p:spPr>
          <a:xfrm>
            <a:off x="800702" y="3700965"/>
            <a:ext cx="5191125" cy="2914650"/>
          </a:xfrm>
          <a:prstGeom prst="rect">
            <a:avLst/>
          </a:prstGeom>
        </p:spPr>
      </p:pic>
      <p:sp>
        <p:nvSpPr>
          <p:cNvPr id="14" name="TextBox 13"/>
          <p:cNvSpPr txBox="1"/>
          <p:nvPr/>
        </p:nvSpPr>
        <p:spPr>
          <a:xfrm>
            <a:off x="0" y="3198167"/>
            <a:ext cx="873252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 What is the total sales value processed by each employee?</a:t>
            </a:r>
            <a:endParaRPr lang="en-IN"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0" y="133648"/>
            <a:ext cx="874776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What is the average order value handled per employee?</a:t>
            </a:r>
            <a:endParaRPr lang="en-IN" sz="2400" b="1"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1"/>
          <a:stretch>
            <a:fillRect/>
          </a:stretch>
        </p:blipFill>
        <p:spPr>
          <a:xfrm>
            <a:off x="207625" y="1135474"/>
            <a:ext cx="10101074" cy="1989691"/>
          </a:xfrm>
          <a:prstGeom prst="rect">
            <a:avLst/>
          </a:prstGeom>
        </p:spPr>
      </p:pic>
      <p:pic>
        <p:nvPicPr>
          <p:cNvPr id="11" name="Picture 10"/>
          <p:cNvPicPr>
            <a:picLocks noChangeAspect="1"/>
          </p:cNvPicPr>
          <p:nvPr/>
        </p:nvPicPr>
        <p:blipFill>
          <a:blip r:embed="rId2"/>
          <a:stretch>
            <a:fillRect/>
          </a:stretch>
        </p:blipFill>
        <p:spPr>
          <a:xfrm>
            <a:off x="6096000" y="1851606"/>
            <a:ext cx="5945313" cy="414673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0"/>
            <a:ext cx="992124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 What is the average quantity ordered per product? </a:t>
            </a:r>
            <a:endParaRPr lang="en-IN" sz="2400" b="1"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1"/>
          <a:stretch>
            <a:fillRect/>
          </a:stretch>
        </p:blipFill>
        <p:spPr>
          <a:xfrm>
            <a:off x="7825103" y="930515"/>
            <a:ext cx="3790480" cy="4760251"/>
          </a:xfrm>
          <a:prstGeom prst="rect">
            <a:avLst/>
          </a:prstGeom>
        </p:spPr>
      </p:pic>
      <p:pic>
        <p:nvPicPr>
          <p:cNvPr id="11" name="Picture 10"/>
          <p:cNvPicPr>
            <a:picLocks noChangeAspect="1"/>
          </p:cNvPicPr>
          <p:nvPr/>
        </p:nvPicPr>
        <p:blipFill>
          <a:blip r:embed="rId2"/>
          <a:stretch>
            <a:fillRect/>
          </a:stretch>
        </p:blipFill>
        <p:spPr>
          <a:xfrm>
            <a:off x="576417" y="1613422"/>
            <a:ext cx="7154777" cy="138442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Final  insights and recommendations</a:t>
            </a:r>
            <a:endParaRPr lang="en-GB" sz="4000" b="1" dirty="0"/>
          </a:p>
        </p:txBody>
      </p:sp>
      <p:sp>
        <p:nvSpPr>
          <p:cNvPr id="4" name="TextBox 3"/>
          <p:cNvSpPr txBox="1"/>
          <p:nvPr/>
        </p:nvSpPr>
        <p:spPr>
          <a:xfrm>
            <a:off x="991564" y="1608882"/>
            <a:ext cx="8661722" cy="3865944"/>
          </a:xfrm>
          <a:prstGeom prst="rect">
            <a:avLst/>
          </a:prstGeom>
          <a:noFill/>
        </p:spPr>
        <p:txBody>
          <a:bodyPr wrap="square" rtlCol="0">
            <a:spAutoFit/>
          </a:bodyPr>
          <a:lstStyle/>
          <a:p>
            <a:pPr marL="342900" indent="-342900">
              <a:lnSpc>
                <a:spcPct val="150000"/>
              </a:lnSpc>
              <a:buFont typeface="Wingdings" panose="05000000000000000000" pitchFamily="2" charset="2"/>
              <a:buChar char="q"/>
            </a:pPr>
            <a:r>
              <a:rPr lang="en-GB" sz="2000" dirty="0"/>
              <a:t>Keep more stock of fast-selling products and reduce items that don’t sell much.</a:t>
            </a:r>
            <a:endParaRPr lang="en-GB" sz="2000" dirty="0"/>
          </a:p>
          <a:p>
            <a:pPr marL="342900" indent="-342900">
              <a:lnSpc>
                <a:spcPct val="150000"/>
              </a:lnSpc>
              <a:buFont typeface="Wingdings" panose="05000000000000000000" pitchFamily="2" charset="2"/>
              <a:buChar char="q"/>
            </a:pPr>
            <a:r>
              <a:rPr lang="en-GB" sz="2000" dirty="0"/>
              <a:t>Work closely with the suppliers who give the best products and bring in most sales.</a:t>
            </a:r>
            <a:endParaRPr lang="en-GB" sz="2000" dirty="0"/>
          </a:p>
          <a:p>
            <a:pPr marL="342900" indent="-342900">
              <a:lnSpc>
                <a:spcPct val="150000"/>
              </a:lnSpc>
              <a:buFont typeface="Wingdings" panose="05000000000000000000" pitchFamily="2" charset="2"/>
              <a:buChar char="q"/>
            </a:pPr>
            <a:r>
              <a:rPr lang="en-GB" sz="2000" dirty="0"/>
              <a:t>Fix price differences by keeping product prices more stable.</a:t>
            </a:r>
            <a:endParaRPr lang="en-GB" sz="2000" dirty="0"/>
          </a:p>
          <a:p>
            <a:pPr marL="342900" indent="-342900">
              <a:lnSpc>
                <a:spcPct val="150000"/>
              </a:lnSpc>
              <a:buFont typeface="Wingdings" panose="05000000000000000000" pitchFamily="2" charset="2"/>
              <a:buChar char="q"/>
            </a:pPr>
            <a:r>
              <a:rPr lang="en-GB" sz="2000" dirty="0"/>
              <a:t>Share work more evenly among employees so no one gets over loaded.</a:t>
            </a:r>
            <a:endParaRPr lang="en-GB" sz="2000" dirty="0"/>
          </a:p>
          <a:p>
            <a:pPr marL="342900" indent="-342900">
              <a:lnSpc>
                <a:spcPct val="150000"/>
              </a:lnSpc>
              <a:buFont typeface="Wingdings" panose="05000000000000000000" pitchFamily="2" charset="2"/>
              <a:buChar char="q"/>
            </a:pPr>
            <a:r>
              <a:rPr lang="en-GB" sz="2000" dirty="0"/>
              <a:t>Give special offers or rewards to regular customers to keep them coming back.</a:t>
            </a:r>
            <a:endParaRPr lang="en-IN"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329699" y="892756"/>
            <a:ext cx="7296912"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Conclusion</a:t>
            </a: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329699" y="1849844"/>
            <a:ext cx="7617531" cy="280698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Most sales come from a few loyal customers and popular products.</a:t>
            </a:r>
            <a:endParaRPr lang="en-IN"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Only some suppliers provide the items that sell the most.</a:t>
            </a:r>
            <a:endParaRPr lang="en-IN"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Employees handle different amounts of work, with a few doing most of the orders.</a:t>
            </a:r>
            <a:endParaRPr lang="en-IN"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store can improve by managing stock better, working closely with good suppliers, and rewarding regular customers.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1"/>
          <a:srcRect/>
          <a:stretch>
            <a:fill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panose="02000000000000000000"/>
              <a:buNone/>
            </a:pPr>
            <a:r>
              <a:rPr lang="en-IN" sz="4400" b="0" i="0" u="none" strike="noStrike" cap="none">
                <a:solidFill>
                  <a:srgbClr val="C00000"/>
                </a:solidFill>
                <a:latin typeface="Libre Baskerville" panose="02000000000000000000"/>
                <a:ea typeface="Libre Baskerville" panose="02000000000000000000"/>
                <a:cs typeface="Libre Baskerville" panose="02000000000000000000"/>
                <a:sym typeface="Libre Baskerville" panose="02000000000000000000"/>
              </a:rPr>
              <a:t>THANK YOU</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4128</Words>
  <Application>WPS Presentation</Application>
  <PresentationFormat>Widescreen</PresentationFormat>
  <Paragraphs>112</Paragraphs>
  <Slides>25</Slides>
  <Notes>10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25</vt:i4>
      </vt:variant>
    </vt:vector>
  </HeadingPairs>
  <TitlesOfParts>
    <vt:vector size="37" baseType="lpstr">
      <vt:lpstr>Arial</vt:lpstr>
      <vt:lpstr>SimSun</vt:lpstr>
      <vt:lpstr>Wingdings</vt:lpstr>
      <vt:lpstr>Arial</vt:lpstr>
      <vt:lpstr>Calibri</vt:lpstr>
      <vt:lpstr>Times New Roman</vt:lpstr>
      <vt:lpstr>Comic Sans MS</vt:lpstr>
      <vt:lpstr>Lato Black</vt:lpstr>
      <vt:lpstr>Microsoft YaHei</vt:lpstr>
      <vt:lpstr>Arial Unicode MS</vt:lpstr>
      <vt:lpstr>Libre Baskerville</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Final  insights and recommendations</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Abbu Manasa 502</cp:lastModifiedBy>
  <cp:revision>28</cp:revision>
  <dcterms:created xsi:type="dcterms:W3CDTF">2021-02-16T05:19:00Z</dcterms:created>
  <dcterms:modified xsi:type="dcterms:W3CDTF">2025-12-04T16:47:38Z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F5CAD182535C45898C63C1FF2D70C9C5_12</vt:lpwstr>
  </property>
  <property fmtid="{D5CDD505-2E9C-101B-9397-08002B2CF9AE}" pid="3" name="KSOProductBuildVer">
    <vt:lpwstr>1033-12.2.0.23155</vt:lpwstr>
  </property>
</Properties>
</file>